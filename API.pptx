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F6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41" autoAdjust="0"/>
    <p:restoredTop sz="94660"/>
  </p:normalViewPr>
  <p:slideViewPr>
    <p:cSldViewPr snapToGrid="0">
      <p:cViewPr varScale="1">
        <p:scale>
          <a:sx n="75" d="100"/>
          <a:sy n="75" d="100"/>
        </p:scale>
        <p:origin x="42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EA64CC-5421-4421-ACC7-DEEB219A3B5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6B3320E-B922-4CB2-A1DB-FB811AB75850}">
      <dgm:prSet phldrT="[Text]">
        <dgm:style>
          <a:lnRef idx="1">
            <a:schemeClr val="dk1"/>
          </a:lnRef>
          <a:fillRef idx="3">
            <a:schemeClr val="dk1"/>
          </a:fillRef>
          <a:effectRef idx="2">
            <a:schemeClr val="dk1"/>
          </a:effectRef>
          <a:fontRef idx="minor">
            <a:schemeClr val="lt1"/>
          </a:fontRef>
        </dgm:style>
      </dgm:prSet>
      <dgm:spPr>
        <a:ln>
          <a:solidFill>
            <a:schemeClr val="tx1">
              <a:lumMod val="65000"/>
            </a:schemeClr>
          </a:solidFill>
        </a:ln>
      </dgm:spPr>
      <dgm:t>
        <a:bodyPr/>
        <a:lstStyle/>
        <a:p>
          <a:pPr algn="ctr"/>
          <a:r>
            <a:rPr lang="en-US" dirty="0"/>
            <a:t>Thank You</a:t>
          </a:r>
        </a:p>
      </dgm:t>
    </dgm:pt>
    <dgm:pt modelId="{5113240D-8BB1-49EB-B470-074DCDF55663}" type="parTrans" cxnId="{12C5CA1E-D478-4FB5-8A26-892E5E558549}">
      <dgm:prSet/>
      <dgm:spPr/>
      <dgm:t>
        <a:bodyPr/>
        <a:lstStyle/>
        <a:p>
          <a:endParaRPr lang="en-US"/>
        </a:p>
      </dgm:t>
    </dgm:pt>
    <dgm:pt modelId="{C3254263-D8B4-4833-B894-5AA07926FF1C}" type="sibTrans" cxnId="{12C5CA1E-D478-4FB5-8A26-892E5E558549}">
      <dgm:prSet/>
      <dgm:spPr/>
      <dgm:t>
        <a:bodyPr/>
        <a:lstStyle/>
        <a:p>
          <a:endParaRPr lang="en-US"/>
        </a:p>
      </dgm:t>
    </dgm:pt>
    <dgm:pt modelId="{625F2794-B520-483C-8ABA-E7A357EC7D44}">
      <dgm:prSet phldrT="[Text]">
        <dgm:style>
          <a:lnRef idx="1">
            <a:schemeClr val="dk1"/>
          </a:lnRef>
          <a:fillRef idx="3">
            <a:schemeClr val="dk1"/>
          </a:fillRef>
          <a:effectRef idx="2">
            <a:schemeClr val="dk1"/>
          </a:effectRef>
          <a:fontRef idx="minor">
            <a:schemeClr val="lt1"/>
          </a:fontRef>
        </dgm:style>
      </dgm:prSet>
      <dgm:spPr>
        <a:ln/>
      </dgm:spPr>
      <dgm:t>
        <a:bodyPr/>
        <a:lstStyle/>
        <a:p>
          <a:pPr algn="ctr"/>
          <a:r>
            <a:rPr lang="en-US" dirty="0"/>
            <a:t>And </a:t>
          </a:r>
        </a:p>
      </dgm:t>
    </dgm:pt>
    <dgm:pt modelId="{3AC27547-DAC6-495D-9C09-9D85824AD839}" type="parTrans" cxnId="{A7946A93-08AD-4691-A1EA-C68119683755}">
      <dgm:prSet/>
      <dgm:spPr/>
      <dgm:t>
        <a:bodyPr/>
        <a:lstStyle/>
        <a:p>
          <a:endParaRPr lang="en-US"/>
        </a:p>
      </dgm:t>
    </dgm:pt>
    <dgm:pt modelId="{C6526077-4ECE-4DD6-8A9D-1BE93B42E9DE}" type="sibTrans" cxnId="{A7946A93-08AD-4691-A1EA-C68119683755}">
      <dgm:prSet/>
      <dgm:spPr/>
      <dgm:t>
        <a:bodyPr/>
        <a:lstStyle/>
        <a:p>
          <a:endParaRPr lang="en-US"/>
        </a:p>
      </dgm:t>
    </dgm:pt>
    <dgm:pt modelId="{06D5508E-3C88-4399-B3B3-944ECBCAB08C}">
      <dgm:prSet phldrT="[Text]">
        <dgm:style>
          <a:lnRef idx="1">
            <a:schemeClr val="dk1"/>
          </a:lnRef>
          <a:fillRef idx="3">
            <a:schemeClr val="dk1"/>
          </a:fillRef>
          <a:effectRef idx="2">
            <a:schemeClr val="dk1"/>
          </a:effectRef>
          <a:fontRef idx="minor">
            <a:schemeClr val="lt1"/>
          </a:fontRef>
        </dgm:style>
      </dgm:prSet>
      <dgm:spPr>
        <a:ln>
          <a:solidFill>
            <a:schemeClr val="tx1">
              <a:lumMod val="65000"/>
            </a:schemeClr>
          </a:solidFill>
        </a:ln>
      </dgm:spPr>
      <dgm:t>
        <a:bodyPr/>
        <a:lstStyle/>
        <a:p>
          <a:pPr algn="ctr"/>
          <a:r>
            <a:rPr lang="en-US" dirty="0"/>
            <a:t>Have</a:t>
          </a:r>
          <a:r>
            <a:rPr lang="en-US" baseline="0" dirty="0"/>
            <a:t> a great day !!</a:t>
          </a:r>
          <a:endParaRPr lang="en-US" dirty="0"/>
        </a:p>
      </dgm:t>
    </dgm:pt>
    <dgm:pt modelId="{123D2AA4-F0FE-4CAE-9B64-E50ACF3E66EF}" type="parTrans" cxnId="{224F4200-E20F-4A42-9B3D-E34F26F13FF8}">
      <dgm:prSet/>
      <dgm:spPr/>
      <dgm:t>
        <a:bodyPr/>
        <a:lstStyle/>
        <a:p>
          <a:endParaRPr lang="en-US"/>
        </a:p>
      </dgm:t>
    </dgm:pt>
    <dgm:pt modelId="{993E6270-26BA-4AF8-84DB-7A708068649A}" type="sibTrans" cxnId="{224F4200-E20F-4A42-9B3D-E34F26F13FF8}">
      <dgm:prSet/>
      <dgm:spPr/>
      <dgm:t>
        <a:bodyPr/>
        <a:lstStyle/>
        <a:p>
          <a:endParaRPr lang="en-US"/>
        </a:p>
      </dgm:t>
    </dgm:pt>
    <dgm:pt modelId="{C1C7D263-D613-4E99-ABC6-52A1800449D6}" type="pres">
      <dgm:prSet presAssocID="{DFEA64CC-5421-4421-ACC7-DEEB219A3B57}" presName="linear" presStyleCnt="0">
        <dgm:presLayoutVars>
          <dgm:dir/>
          <dgm:animLvl val="lvl"/>
          <dgm:resizeHandles val="exact"/>
        </dgm:presLayoutVars>
      </dgm:prSet>
      <dgm:spPr/>
    </dgm:pt>
    <dgm:pt modelId="{54FCA279-9CCF-4538-ACC1-780798540721}" type="pres">
      <dgm:prSet presAssocID="{56B3320E-B922-4CB2-A1DB-FB811AB75850}" presName="parentLin" presStyleCnt="0"/>
      <dgm:spPr/>
    </dgm:pt>
    <dgm:pt modelId="{2991CCD6-3125-4D35-B435-52956E43D840}" type="pres">
      <dgm:prSet presAssocID="{56B3320E-B922-4CB2-A1DB-FB811AB75850}" presName="parentLeftMargin" presStyleLbl="node1" presStyleIdx="0" presStyleCnt="3"/>
      <dgm:spPr/>
    </dgm:pt>
    <dgm:pt modelId="{5465C1CF-4588-44C8-B504-428B3DD268C8}" type="pres">
      <dgm:prSet presAssocID="{56B3320E-B922-4CB2-A1DB-FB811AB75850}" presName="parentText" presStyleLbl="node1" presStyleIdx="0" presStyleCnt="3">
        <dgm:presLayoutVars>
          <dgm:chMax val="0"/>
          <dgm:bulletEnabled val="1"/>
        </dgm:presLayoutVars>
      </dgm:prSet>
      <dgm:spPr/>
    </dgm:pt>
    <dgm:pt modelId="{303C8B3E-B3DC-4BFB-8DA4-89276CFF5B91}" type="pres">
      <dgm:prSet presAssocID="{56B3320E-B922-4CB2-A1DB-FB811AB75850}" presName="negativeSpace" presStyleCnt="0"/>
      <dgm:spPr/>
    </dgm:pt>
    <dgm:pt modelId="{7C84786F-7074-4EE8-8111-0802D7B041A6}" type="pres">
      <dgm:prSet presAssocID="{56B3320E-B922-4CB2-A1DB-FB811AB75850}" presName="childText" presStyleLbl="conFgAcc1" presStyleIdx="0" presStyleCnt="3">
        <dgm:presLayoutVars>
          <dgm:bulletEnabled val="1"/>
        </dgm:presLayoutVars>
        <dgm:style>
          <a:lnRef idx="1">
            <a:schemeClr val="dk1"/>
          </a:lnRef>
          <a:fillRef idx="2">
            <a:schemeClr val="dk1"/>
          </a:fillRef>
          <a:effectRef idx="1">
            <a:schemeClr val="dk1"/>
          </a:effectRef>
          <a:fontRef idx="minor">
            <a:schemeClr val="dk1"/>
          </a:fontRef>
        </dgm:style>
      </dgm:prSet>
      <dgm:spPr>
        <a:ln/>
      </dgm:spPr>
    </dgm:pt>
    <dgm:pt modelId="{86B78A7D-3BA0-46D4-8631-74467E0B4207}" type="pres">
      <dgm:prSet presAssocID="{C3254263-D8B4-4833-B894-5AA07926FF1C}" presName="spaceBetweenRectangles" presStyleCnt="0"/>
      <dgm:spPr/>
    </dgm:pt>
    <dgm:pt modelId="{400A1622-50D1-48CC-9DC1-66D2B0C0EED8}" type="pres">
      <dgm:prSet presAssocID="{625F2794-B520-483C-8ABA-E7A357EC7D44}" presName="parentLin" presStyleCnt="0"/>
      <dgm:spPr/>
    </dgm:pt>
    <dgm:pt modelId="{52133670-A95A-41E0-AF58-8FE35BAA6BB4}" type="pres">
      <dgm:prSet presAssocID="{625F2794-B520-483C-8ABA-E7A357EC7D44}" presName="parentLeftMargin" presStyleLbl="node1" presStyleIdx="0" presStyleCnt="3"/>
      <dgm:spPr/>
    </dgm:pt>
    <dgm:pt modelId="{C0D3FCF0-FB6D-4F59-9BFB-3F8AD1144646}" type="pres">
      <dgm:prSet presAssocID="{625F2794-B520-483C-8ABA-E7A357EC7D44}" presName="parentText" presStyleLbl="node1" presStyleIdx="1" presStyleCnt="3">
        <dgm:presLayoutVars>
          <dgm:chMax val="0"/>
          <dgm:bulletEnabled val="1"/>
        </dgm:presLayoutVars>
      </dgm:prSet>
      <dgm:spPr/>
    </dgm:pt>
    <dgm:pt modelId="{38FE6F1F-8CF2-4559-AA15-AB91090FEE19}" type="pres">
      <dgm:prSet presAssocID="{625F2794-B520-483C-8ABA-E7A357EC7D44}" presName="negativeSpace" presStyleCnt="0"/>
      <dgm:spPr/>
    </dgm:pt>
    <dgm:pt modelId="{82F30A0F-4D7B-43B5-9480-7480632C23AF}" type="pres">
      <dgm:prSet presAssocID="{625F2794-B520-483C-8ABA-E7A357EC7D44}" presName="childText" presStyleLbl="conFgAcc1" presStyleIdx="1" presStyleCnt="3">
        <dgm:presLayoutVars>
          <dgm:bulletEnabled val="1"/>
        </dgm:presLayoutVars>
        <dgm:style>
          <a:lnRef idx="1">
            <a:schemeClr val="dk1"/>
          </a:lnRef>
          <a:fillRef idx="2">
            <a:schemeClr val="dk1"/>
          </a:fillRef>
          <a:effectRef idx="1">
            <a:schemeClr val="dk1"/>
          </a:effectRef>
          <a:fontRef idx="minor">
            <a:schemeClr val="dk1"/>
          </a:fontRef>
        </dgm:style>
      </dgm:prSet>
      <dgm:spPr>
        <a:ln/>
      </dgm:spPr>
    </dgm:pt>
    <dgm:pt modelId="{206EE940-1B48-4248-B25B-49690BD8FD31}" type="pres">
      <dgm:prSet presAssocID="{C6526077-4ECE-4DD6-8A9D-1BE93B42E9DE}" presName="spaceBetweenRectangles" presStyleCnt="0"/>
      <dgm:spPr/>
    </dgm:pt>
    <dgm:pt modelId="{E6A99ADB-0635-45D8-B8AF-F5718E45A0E9}" type="pres">
      <dgm:prSet presAssocID="{06D5508E-3C88-4399-B3B3-944ECBCAB08C}" presName="parentLin" presStyleCnt="0"/>
      <dgm:spPr/>
    </dgm:pt>
    <dgm:pt modelId="{D854523C-8587-4786-98DA-8B00ABE0ED11}" type="pres">
      <dgm:prSet presAssocID="{06D5508E-3C88-4399-B3B3-944ECBCAB08C}" presName="parentLeftMargin" presStyleLbl="node1" presStyleIdx="1" presStyleCnt="3"/>
      <dgm:spPr/>
    </dgm:pt>
    <dgm:pt modelId="{9CAAD8D9-D9FD-481E-AD05-DF2942626884}" type="pres">
      <dgm:prSet presAssocID="{06D5508E-3C88-4399-B3B3-944ECBCAB08C}" presName="parentText" presStyleLbl="node1" presStyleIdx="2" presStyleCnt="3">
        <dgm:presLayoutVars>
          <dgm:chMax val="0"/>
          <dgm:bulletEnabled val="1"/>
        </dgm:presLayoutVars>
      </dgm:prSet>
      <dgm:spPr/>
    </dgm:pt>
    <dgm:pt modelId="{7F1E53AD-DA8A-46EB-A335-446CCB3D7D94}" type="pres">
      <dgm:prSet presAssocID="{06D5508E-3C88-4399-B3B3-944ECBCAB08C}" presName="negativeSpace" presStyleCnt="0"/>
      <dgm:spPr/>
    </dgm:pt>
    <dgm:pt modelId="{029118B3-D6DE-425A-BA6E-BBF53611B504}" type="pres">
      <dgm:prSet presAssocID="{06D5508E-3C88-4399-B3B3-944ECBCAB08C}" presName="childText" presStyleLbl="conFgAcc1" presStyleIdx="2" presStyleCnt="3">
        <dgm:presLayoutVars>
          <dgm:bulletEnabled val="1"/>
        </dgm:presLayoutVars>
        <dgm:style>
          <a:lnRef idx="1">
            <a:schemeClr val="dk1"/>
          </a:lnRef>
          <a:fillRef idx="2">
            <a:schemeClr val="dk1"/>
          </a:fillRef>
          <a:effectRef idx="1">
            <a:schemeClr val="dk1"/>
          </a:effectRef>
          <a:fontRef idx="minor">
            <a:schemeClr val="dk1"/>
          </a:fontRef>
        </dgm:style>
      </dgm:prSet>
      <dgm:spPr>
        <a:ln/>
      </dgm:spPr>
    </dgm:pt>
  </dgm:ptLst>
  <dgm:cxnLst>
    <dgm:cxn modelId="{224F4200-E20F-4A42-9B3D-E34F26F13FF8}" srcId="{DFEA64CC-5421-4421-ACC7-DEEB219A3B57}" destId="{06D5508E-3C88-4399-B3B3-944ECBCAB08C}" srcOrd="2" destOrd="0" parTransId="{123D2AA4-F0FE-4CAE-9B64-E50ACF3E66EF}" sibTransId="{993E6270-26BA-4AF8-84DB-7A708068649A}"/>
    <dgm:cxn modelId="{3C772903-1230-498A-ACE0-A0C5572D120D}" type="presOf" srcId="{625F2794-B520-483C-8ABA-E7A357EC7D44}" destId="{C0D3FCF0-FB6D-4F59-9BFB-3F8AD1144646}" srcOrd="1" destOrd="0" presId="urn:microsoft.com/office/officeart/2005/8/layout/list1"/>
    <dgm:cxn modelId="{12C5CA1E-D478-4FB5-8A26-892E5E558549}" srcId="{DFEA64CC-5421-4421-ACC7-DEEB219A3B57}" destId="{56B3320E-B922-4CB2-A1DB-FB811AB75850}" srcOrd="0" destOrd="0" parTransId="{5113240D-8BB1-49EB-B470-074DCDF55663}" sibTransId="{C3254263-D8B4-4833-B894-5AA07926FF1C}"/>
    <dgm:cxn modelId="{857DA545-FB87-4254-821E-848249DD359A}" type="presOf" srcId="{56B3320E-B922-4CB2-A1DB-FB811AB75850}" destId="{5465C1CF-4588-44C8-B504-428B3DD268C8}" srcOrd="1" destOrd="0" presId="urn:microsoft.com/office/officeart/2005/8/layout/list1"/>
    <dgm:cxn modelId="{E6E97279-B129-436F-B035-5B9ABB14A5A9}" type="presOf" srcId="{06D5508E-3C88-4399-B3B3-944ECBCAB08C}" destId="{9CAAD8D9-D9FD-481E-AD05-DF2942626884}" srcOrd="1" destOrd="0" presId="urn:microsoft.com/office/officeart/2005/8/layout/list1"/>
    <dgm:cxn modelId="{BEA38D8C-9CAB-4721-AA24-DA8CAF5A0FEB}" type="presOf" srcId="{625F2794-B520-483C-8ABA-E7A357EC7D44}" destId="{52133670-A95A-41E0-AF58-8FE35BAA6BB4}" srcOrd="0" destOrd="0" presId="urn:microsoft.com/office/officeart/2005/8/layout/list1"/>
    <dgm:cxn modelId="{A7946A93-08AD-4691-A1EA-C68119683755}" srcId="{DFEA64CC-5421-4421-ACC7-DEEB219A3B57}" destId="{625F2794-B520-483C-8ABA-E7A357EC7D44}" srcOrd="1" destOrd="0" parTransId="{3AC27547-DAC6-495D-9C09-9D85824AD839}" sibTransId="{C6526077-4ECE-4DD6-8A9D-1BE93B42E9DE}"/>
    <dgm:cxn modelId="{C55A5DBC-DE1A-4CC7-83CB-B651AE18C03D}" type="presOf" srcId="{56B3320E-B922-4CB2-A1DB-FB811AB75850}" destId="{2991CCD6-3125-4D35-B435-52956E43D840}" srcOrd="0" destOrd="0" presId="urn:microsoft.com/office/officeart/2005/8/layout/list1"/>
    <dgm:cxn modelId="{1D985FE2-0F49-42AB-9BD9-9AC3F7E21184}" type="presOf" srcId="{DFEA64CC-5421-4421-ACC7-DEEB219A3B57}" destId="{C1C7D263-D613-4E99-ABC6-52A1800449D6}" srcOrd="0" destOrd="0" presId="urn:microsoft.com/office/officeart/2005/8/layout/list1"/>
    <dgm:cxn modelId="{3176A1EC-E261-46C0-9D68-37434D6C9879}" type="presOf" srcId="{06D5508E-3C88-4399-B3B3-944ECBCAB08C}" destId="{D854523C-8587-4786-98DA-8B00ABE0ED11}" srcOrd="0" destOrd="0" presId="urn:microsoft.com/office/officeart/2005/8/layout/list1"/>
    <dgm:cxn modelId="{EEFA3F15-7FE5-47FB-ACCA-C0B6E70A31CB}" type="presParOf" srcId="{C1C7D263-D613-4E99-ABC6-52A1800449D6}" destId="{54FCA279-9CCF-4538-ACC1-780798540721}" srcOrd="0" destOrd="0" presId="urn:microsoft.com/office/officeart/2005/8/layout/list1"/>
    <dgm:cxn modelId="{C2CFFE6A-A375-492C-95A8-A7A433D06CA0}" type="presParOf" srcId="{54FCA279-9CCF-4538-ACC1-780798540721}" destId="{2991CCD6-3125-4D35-B435-52956E43D840}" srcOrd="0" destOrd="0" presId="urn:microsoft.com/office/officeart/2005/8/layout/list1"/>
    <dgm:cxn modelId="{52EEC684-549B-460B-A873-91D7823B963C}" type="presParOf" srcId="{54FCA279-9CCF-4538-ACC1-780798540721}" destId="{5465C1CF-4588-44C8-B504-428B3DD268C8}" srcOrd="1" destOrd="0" presId="urn:microsoft.com/office/officeart/2005/8/layout/list1"/>
    <dgm:cxn modelId="{DA424CB9-5438-4D23-A8C7-8C75D9DCD7A2}" type="presParOf" srcId="{C1C7D263-D613-4E99-ABC6-52A1800449D6}" destId="{303C8B3E-B3DC-4BFB-8DA4-89276CFF5B91}" srcOrd="1" destOrd="0" presId="urn:microsoft.com/office/officeart/2005/8/layout/list1"/>
    <dgm:cxn modelId="{9E982874-33E0-41B7-BB22-7C906C628ED6}" type="presParOf" srcId="{C1C7D263-D613-4E99-ABC6-52A1800449D6}" destId="{7C84786F-7074-4EE8-8111-0802D7B041A6}" srcOrd="2" destOrd="0" presId="urn:microsoft.com/office/officeart/2005/8/layout/list1"/>
    <dgm:cxn modelId="{71F11AB7-BE9D-42B4-865D-5447690CA2FA}" type="presParOf" srcId="{C1C7D263-D613-4E99-ABC6-52A1800449D6}" destId="{86B78A7D-3BA0-46D4-8631-74467E0B4207}" srcOrd="3" destOrd="0" presId="urn:microsoft.com/office/officeart/2005/8/layout/list1"/>
    <dgm:cxn modelId="{6B428801-CCB2-42B4-BC69-2388AB4492B3}" type="presParOf" srcId="{C1C7D263-D613-4E99-ABC6-52A1800449D6}" destId="{400A1622-50D1-48CC-9DC1-66D2B0C0EED8}" srcOrd="4" destOrd="0" presId="urn:microsoft.com/office/officeart/2005/8/layout/list1"/>
    <dgm:cxn modelId="{9A91DB3D-D8B4-4D57-BD73-A926C2B4FE16}" type="presParOf" srcId="{400A1622-50D1-48CC-9DC1-66D2B0C0EED8}" destId="{52133670-A95A-41E0-AF58-8FE35BAA6BB4}" srcOrd="0" destOrd="0" presId="urn:microsoft.com/office/officeart/2005/8/layout/list1"/>
    <dgm:cxn modelId="{AA2BED11-3B2B-4372-803D-4EF5B3477D91}" type="presParOf" srcId="{400A1622-50D1-48CC-9DC1-66D2B0C0EED8}" destId="{C0D3FCF0-FB6D-4F59-9BFB-3F8AD1144646}" srcOrd="1" destOrd="0" presId="urn:microsoft.com/office/officeart/2005/8/layout/list1"/>
    <dgm:cxn modelId="{17E3A07A-8937-4CEF-B229-B6A47B829889}" type="presParOf" srcId="{C1C7D263-D613-4E99-ABC6-52A1800449D6}" destId="{38FE6F1F-8CF2-4559-AA15-AB91090FEE19}" srcOrd="5" destOrd="0" presId="urn:microsoft.com/office/officeart/2005/8/layout/list1"/>
    <dgm:cxn modelId="{2440A9BF-F377-473D-999E-87134201C450}" type="presParOf" srcId="{C1C7D263-D613-4E99-ABC6-52A1800449D6}" destId="{82F30A0F-4D7B-43B5-9480-7480632C23AF}" srcOrd="6" destOrd="0" presId="urn:microsoft.com/office/officeart/2005/8/layout/list1"/>
    <dgm:cxn modelId="{8D2EA67E-4CA8-4C10-B31A-8DD3EEF7566E}" type="presParOf" srcId="{C1C7D263-D613-4E99-ABC6-52A1800449D6}" destId="{206EE940-1B48-4248-B25B-49690BD8FD31}" srcOrd="7" destOrd="0" presId="urn:microsoft.com/office/officeart/2005/8/layout/list1"/>
    <dgm:cxn modelId="{A8F6C983-14A0-4FEE-B653-077A4C84C033}" type="presParOf" srcId="{C1C7D263-D613-4E99-ABC6-52A1800449D6}" destId="{E6A99ADB-0635-45D8-B8AF-F5718E45A0E9}" srcOrd="8" destOrd="0" presId="urn:microsoft.com/office/officeart/2005/8/layout/list1"/>
    <dgm:cxn modelId="{9C46332E-8C60-45CA-B364-17BCD4700BC1}" type="presParOf" srcId="{E6A99ADB-0635-45D8-B8AF-F5718E45A0E9}" destId="{D854523C-8587-4786-98DA-8B00ABE0ED11}" srcOrd="0" destOrd="0" presId="urn:microsoft.com/office/officeart/2005/8/layout/list1"/>
    <dgm:cxn modelId="{C074CFC0-E2E9-40C8-BBBC-685A5725BF5C}" type="presParOf" srcId="{E6A99ADB-0635-45D8-B8AF-F5718E45A0E9}" destId="{9CAAD8D9-D9FD-481E-AD05-DF2942626884}" srcOrd="1" destOrd="0" presId="urn:microsoft.com/office/officeart/2005/8/layout/list1"/>
    <dgm:cxn modelId="{0012FA78-70F2-4C2C-9F33-012787204970}" type="presParOf" srcId="{C1C7D263-D613-4E99-ABC6-52A1800449D6}" destId="{7F1E53AD-DA8A-46EB-A335-446CCB3D7D94}" srcOrd="9" destOrd="0" presId="urn:microsoft.com/office/officeart/2005/8/layout/list1"/>
    <dgm:cxn modelId="{40CB4F93-958E-4497-B308-A55CE663284B}" type="presParOf" srcId="{C1C7D263-D613-4E99-ABC6-52A1800449D6}" destId="{029118B3-D6DE-425A-BA6E-BBF53611B50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4786F-7074-4EE8-8111-0802D7B041A6}">
      <dsp:nvSpPr>
        <dsp:cNvPr id="0" name=""/>
        <dsp:cNvSpPr/>
      </dsp:nvSpPr>
      <dsp:spPr>
        <a:xfrm>
          <a:off x="0" y="635553"/>
          <a:ext cx="8128000" cy="1033200"/>
        </a:xfrm>
        <a:prstGeom prst="rect">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sp>
    <dsp:sp modelId="{5465C1CF-4588-44C8-B504-428B3DD268C8}">
      <dsp:nvSpPr>
        <dsp:cNvPr id="0" name=""/>
        <dsp:cNvSpPr/>
      </dsp:nvSpPr>
      <dsp:spPr>
        <a:xfrm>
          <a:off x="406400" y="30393"/>
          <a:ext cx="5689600" cy="1210320"/>
        </a:xfrm>
        <a:prstGeom prst="roundRect">
          <a:avLst/>
        </a:prstGeom>
        <a:gradFill rotWithShape="1">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a:ln w="6350" cap="flat" cmpd="sng" algn="ctr">
          <a:solidFill>
            <a:schemeClr val="tx1">
              <a:lumMod val="65000"/>
            </a:schemeClr>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215053" tIns="0" rIns="215053" bIns="0" numCol="1" spcCol="1270" anchor="ctr" anchorCtr="0">
          <a:noAutofit/>
        </a:bodyPr>
        <a:lstStyle/>
        <a:p>
          <a:pPr marL="0" lvl="0" indent="0" algn="ctr" defTabSz="1822450">
            <a:lnSpc>
              <a:spcPct val="90000"/>
            </a:lnSpc>
            <a:spcBef>
              <a:spcPct val="0"/>
            </a:spcBef>
            <a:spcAft>
              <a:spcPct val="35000"/>
            </a:spcAft>
            <a:buNone/>
          </a:pPr>
          <a:r>
            <a:rPr lang="en-US" sz="4100" kern="1200" dirty="0"/>
            <a:t>Thank You</a:t>
          </a:r>
        </a:p>
      </dsp:txBody>
      <dsp:txXfrm>
        <a:off x="465483" y="89476"/>
        <a:ext cx="5571434" cy="1092154"/>
      </dsp:txXfrm>
    </dsp:sp>
    <dsp:sp modelId="{82F30A0F-4D7B-43B5-9480-7480632C23AF}">
      <dsp:nvSpPr>
        <dsp:cNvPr id="0" name=""/>
        <dsp:cNvSpPr/>
      </dsp:nvSpPr>
      <dsp:spPr>
        <a:xfrm>
          <a:off x="0" y="2495313"/>
          <a:ext cx="8128000" cy="1033200"/>
        </a:xfrm>
        <a:prstGeom prst="rect">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sp>
    <dsp:sp modelId="{C0D3FCF0-FB6D-4F59-9BFB-3F8AD1144646}">
      <dsp:nvSpPr>
        <dsp:cNvPr id="0" name=""/>
        <dsp:cNvSpPr/>
      </dsp:nvSpPr>
      <dsp:spPr>
        <a:xfrm>
          <a:off x="406400" y="1890153"/>
          <a:ext cx="5689600" cy="1210320"/>
        </a:xfrm>
        <a:prstGeom prst="roundRect">
          <a:avLst/>
        </a:prstGeom>
        <a:gradFill rotWithShape="1">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a:ln w="6350" cap="flat" cmpd="sng" algn="ctr">
          <a:solidFill>
            <a:schemeClr val="dk1"/>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215053" tIns="0" rIns="215053" bIns="0" numCol="1" spcCol="1270" anchor="ctr" anchorCtr="0">
          <a:noAutofit/>
        </a:bodyPr>
        <a:lstStyle/>
        <a:p>
          <a:pPr marL="0" lvl="0" indent="0" algn="ctr" defTabSz="1822450">
            <a:lnSpc>
              <a:spcPct val="90000"/>
            </a:lnSpc>
            <a:spcBef>
              <a:spcPct val="0"/>
            </a:spcBef>
            <a:spcAft>
              <a:spcPct val="35000"/>
            </a:spcAft>
            <a:buNone/>
          </a:pPr>
          <a:r>
            <a:rPr lang="en-US" sz="4100" kern="1200" dirty="0"/>
            <a:t>And </a:t>
          </a:r>
        </a:p>
      </dsp:txBody>
      <dsp:txXfrm>
        <a:off x="465483" y="1949236"/>
        <a:ext cx="5571434" cy="1092154"/>
      </dsp:txXfrm>
    </dsp:sp>
    <dsp:sp modelId="{029118B3-D6DE-425A-BA6E-BBF53611B504}">
      <dsp:nvSpPr>
        <dsp:cNvPr id="0" name=""/>
        <dsp:cNvSpPr/>
      </dsp:nvSpPr>
      <dsp:spPr>
        <a:xfrm>
          <a:off x="0" y="4355073"/>
          <a:ext cx="8128000" cy="1033200"/>
        </a:xfrm>
        <a:prstGeom prst="rect">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sp>
    <dsp:sp modelId="{9CAAD8D9-D9FD-481E-AD05-DF2942626884}">
      <dsp:nvSpPr>
        <dsp:cNvPr id="0" name=""/>
        <dsp:cNvSpPr/>
      </dsp:nvSpPr>
      <dsp:spPr>
        <a:xfrm>
          <a:off x="406400" y="3749913"/>
          <a:ext cx="5689600" cy="1210320"/>
        </a:xfrm>
        <a:prstGeom prst="roundRect">
          <a:avLst/>
        </a:prstGeom>
        <a:gradFill rotWithShape="1">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a:ln w="6350" cap="flat" cmpd="sng" algn="ctr">
          <a:solidFill>
            <a:schemeClr val="tx1">
              <a:lumMod val="65000"/>
            </a:schemeClr>
          </a:solidFill>
          <a:prstDash val="solid"/>
          <a:miter lim="800000"/>
        </a:ln>
        <a:effectLst/>
      </dsp:spPr>
      <dsp:style>
        <a:lnRef idx="1">
          <a:schemeClr val="dk1"/>
        </a:lnRef>
        <a:fillRef idx="3">
          <a:schemeClr val="dk1"/>
        </a:fillRef>
        <a:effectRef idx="2">
          <a:schemeClr val="dk1"/>
        </a:effectRef>
        <a:fontRef idx="minor">
          <a:schemeClr val="lt1"/>
        </a:fontRef>
      </dsp:style>
      <dsp:txBody>
        <a:bodyPr spcFirstLastPara="0" vert="horz" wrap="square" lIns="215053" tIns="0" rIns="215053" bIns="0" numCol="1" spcCol="1270" anchor="ctr" anchorCtr="0">
          <a:noAutofit/>
        </a:bodyPr>
        <a:lstStyle/>
        <a:p>
          <a:pPr marL="0" lvl="0" indent="0" algn="ctr" defTabSz="1822450">
            <a:lnSpc>
              <a:spcPct val="90000"/>
            </a:lnSpc>
            <a:spcBef>
              <a:spcPct val="0"/>
            </a:spcBef>
            <a:spcAft>
              <a:spcPct val="35000"/>
            </a:spcAft>
            <a:buNone/>
          </a:pPr>
          <a:r>
            <a:rPr lang="en-US" sz="4100" kern="1200" dirty="0"/>
            <a:t>Have</a:t>
          </a:r>
          <a:r>
            <a:rPr lang="en-US" sz="4100" kern="1200" baseline="0" dirty="0"/>
            <a:t> a great day !!</a:t>
          </a:r>
          <a:endParaRPr lang="en-US" sz="4100" kern="1200" dirty="0"/>
        </a:p>
      </dsp:txBody>
      <dsp:txXfrm>
        <a:off x="465483" y="3808996"/>
        <a:ext cx="5571434" cy="10921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41EEF-4E7D-4A9A-9758-256ED5A3AAF6}" type="datetimeFigureOut">
              <a:rPr lang="en-IN" smtClean="0"/>
              <a:t>25-08-2021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4021373544"/>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41EEF-4E7D-4A9A-9758-256ED5A3AAF6}" type="datetimeFigureOut">
              <a:rPr lang="en-IN" smtClean="0"/>
              <a:t>25-08-2021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2009433047"/>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B341EEF-4E7D-4A9A-9758-256ED5A3AAF6}" type="datetimeFigureOut">
              <a:rPr lang="en-IN" smtClean="0"/>
              <a:t>25-08-2021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3192169983"/>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41EEF-4E7D-4A9A-9758-256ED5A3AAF6}" type="datetimeFigureOut">
              <a:rPr lang="en-IN" smtClean="0"/>
              <a:t>25-08-2021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1520597818"/>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41EEF-4E7D-4A9A-9758-256ED5A3AAF6}" type="datetimeFigureOut">
              <a:rPr lang="en-IN" smtClean="0"/>
              <a:t>25-08-2021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3304364493"/>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341EEF-4E7D-4A9A-9758-256ED5A3AAF6}" type="datetimeFigureOut">
              <a:rPr lang="en-IN" smtClean="0"/>
              <a:t>25-08-2021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3320175561"/>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41EEF-4E7D-4A9A-9758-256ED5A3AAF6}" type="datetimeFigureOut">
              <a:rPr lang="en-IN" smtClean="0"/>
              <a:t>25-08-2021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3670669117"/>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341EEF-4E7D-4A9A-9758-256ED5A3AAF6}" type="datetimeFigureOut">
              <a:rPr lang="en-IN" smtClean="0"/>
              <a:t>25-08-2021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3926168789"/>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341EEF-4E7D-4A9A-9758-256ED5A3AAF6}" type="datetimeFigureOut">
              <a:rPr lang="en-IN" smtClean="0"/>
              <a:t>25-08-2021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1568243135"/>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41EEF-4E7D-4A9A-9758-256ED5A3AAF6}" type="datetimeFigureOut">
              <a:rPr lang="en-IN" smtClean="0"/>
              <a:t>25-08-2021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4167861260"/>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41EEF-4E7D-4A9A-9758-256ED5A3AAF6}" type="datetimeFigureOut">
              <a:rPr lang="en-IN" smtClean="0"/>
              <a:t>25-08-2021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4F8D56-D74B-422E-A058-CA81B3DCA40C}" type="slidenum">
              <a:rPr lang="en-IN" smtClean="0"/>
              <a:t>‹#›</a:t>
            </a:fld>
            <a:endParaRPr lang="en-IN"/>
          </a:p>
        </p:txBody>
      </p:sp>
    </p:spTree>
    <p:extLst>
      <p:ext uri="{BB962C8B-B14F-4D97-AF65-F5344CB8AC3E}">
        <p14:creationId xmlns:p14="http://schemas.microsoft.com/office/powerpoint/2010/main" val="63652975"/>
      </p:ext>
    </p:extLst>
  </p:cSld>
  <p:clrMapOvr>
    <a:masterClrMapping/>
  </p:clrMapOvr>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41EEF-4E7D-4A9A-9758-256ED5A3AAF6}" type="datetimeFigureOut">
              <a:rPr lang="en-IN" smtClean="0"/>
              <a:t>25-08-2021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4F8D56-D74B-422E-A058-CA81B3DCA40C}" type="slidenum">
              <a:rPr lang="en-IN" smtClean="0"/>
              <a:t>‹#›</a:t>
            </a:fld>
            <a:endParaRPr lang="en-IN"/>
          </a:p>
        </p:txBody>
      </p:sp>
    </p:spTree>
    <p:extLst>
      <p:ext uri="{BB962C8B-B14F-4D97-AF65-F5344CB8AC3E}">
        <p14:creationId xmlns:p14="http://schemas.microsoft.com/office/powerpoint/2010/main" val="5654719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0500">
        <p14:warp dir="in"/>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jpg" /><Relationship Id="rId1" Type="http://schemas.openxmlformats.org/officeDocument/2006/relationships/slideLayout" Target="../slideLayouts/slideLayout7.xml" /><Relationship Id="rId5" Type="http://schemas.openxmlformats.org/officeDocument/2006/relationships/image" Target="../media/image6.png" /><Relationship Id="rId4" Type="http://schemas.openxmlformats.org/officeDocument/2006/relationships/image" Target="../media/image5.png" /></Relationships>
</file>

<file path=ppt/slides/_rels/slide4.xml.rels><?xml version="1.0" encoding="UTF-8" standalone="yes"?>
<Relationships xmlns="http://schemas.openxmlformats.org/package/2006/relationships"><Relationship Id="rId3" Type="http://schemas.openxmlformats.org/officeDocument/2006/relationships/image" Target="../media/image8.jpg" /><Relationship Id="rId2" Type="http://schemas.openxmlformats.org/officeDocument/2006/relationships/image" Target="../media/image7.jp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jp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4.png" /><Relationship Id="rId1" Type="http://schemas.openxmlformats.org/officeDocument/2006/relationships/slideLayout" Target="../slideLayouts/slideLayout7.xml" /><Relationship Id="rId6" Type="http://schemas.openxmlformats.org/officeDocument/2006/relationships/image" Target="../media/image18.png" /><Relationship Id="rId5" Type="http://schemas.openxmlformats.org/officeDocument/2006/relationships/image" Target="../media/image17.png" /><Relationship Id="rId4" Type="http://schemas.openxmlformats.org/officeDocument/2006/relationships/image" Target="../media/image16.png" /></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7.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8" name="TextBox 7"/>
          <p:cNvSpPr txBox="1"/>
          <p:nvPr/>
        </p:nvSpPr>
        <p:spPr>
          <a:xfrm>
            <a:off x="4688113" y="188686"/>
            <a:ext cx="4978402" cy="707886"/>
          </a:xfrm>
          <a:prstGeom prst="rect">
            <a:avLst/>
          </a:prstGeom>
          <a:noFill/>
        </p:spPr>
        <p:txBody>
          <a:bodyPr wrap="square" rtlCol="0">
            <a:spAutoFit/>
          </a:bodyPr>
          <a:lstStyle/>
          <a:p>
            <a:r>
              <a:rPr lang="en-US" sz="4000" b="1" dirty="0">
                <a:solidFill>
                  <a:schemeClr val="bg1">
                    <a:lumMod val="75000"/>
                    <a:lumOff val="25000"/>
                  </a:schemeClr>
                </a:solidFill>
              </a:rPr>
              <a:t>IT-What it is?</a:t>
            </a:r>
            <a:endParaRPr lang="en-IN" sz="4000" b="1" dirty="0">
              <a:solidFill>
                <a:schemeClr val="bg1">
                  <a:lumMod val="75000"/>
                  <a:lumOff val="25000"/>
                </a:schemeClr>
              </a:solidFill>
            </a:endParaRPr>
          </a:p>
        </p:txBody>
      </p:sp>
      <p:sp>
        <p:nvSpPr>
          <p:cNvPr id="9" name="TextBox 8"/>
          <p:cNvSpPr txBox="1"/>
          <p:nvPr/>
        </p:nvSpPr>
        <p:spPr>
          <a:xfrm>
            <a:off x="5936344" y="1808347"/>
            <a:ext cx="5996964" cy="3970318"/>
          </a:xfrm>
          <a:prstGeom prst="rect">
            <a:avLst/>
          </a:prstGeom>
          <a:noFill/>
        </p:spPr>
        <p:txBody>
          <a:bodyPr wrap="square" rtlCol="0">
            <a:spAutoFit/>
          </a:bodyPr>
          <a:lstStyle/>
          <a:p>
            <a:r>
              <a:rPr lang="en-US" sz="2800" b="1" dirty="0">
                <a:solidFill>
                  <a:schemeClr val="bg2">
                    <a:lumMod val="75000"/>
                  </a:schemeClr>
                </a:solidFill>
                <a:latin typeface="Bahnschrift" panose="020B0502040204020203" pitchFamily="34" charset="0"/>
              </a:rPr>
              <a:t>Information technology</a:t>
            </a:r>
            <a:r>
              <a:rPr lang="en-US" sz="2800" dirty="0">
                <a:solidFill>
                  <a:schemeClr val="bg2">
                    <a:lumMod val="75000"/>
                  </a:schemeClr>
                </a:solidFill>
                <a:latin typeface="Bahnschrift" panose="020B0502040204020203" pitchFamily="34" charset="0"/>
              </a:rPr>
              <a:t> (</a:t>
            </a:r>
            <a:r>
              <a:rPr lang="en-US" sz="2800" b="1" dirty="0">
                <a:solidFill>
                  <a:schemeClr val="bg2">
                    <a:lumMod val="75000"/>
                  </a:schemeClr>
                </a:solidFill>
                <a:latin typeface="Bahnschrift" panose="020B0502040204020203" pitchFamily="34" charset="0"/>
              </a:rPr>
              <a:t>IT</a:t>
            </a:r>
            <a:r>
              <a:rPr lang="en-US" sz="2800" dirty="0">
                <a:solidFill>
                  <a:schemeClr val="bg2">
                    <a:lumMod val="75000"/>
                  </a:schemeClr>
                </a:solidFill>
                <a:latin typeface="Bahnschrift" panose="020B0502040204020203" pitchFamily="34" charset="0"/>
              </a:rPr>
              <a:t>) is the use of electronic devices  to create, process, store, and exchange all kinds of electronic data</a:t>
            </a:r>
            <a:r>
              <a:rPr lang="en-US" sz="2800" baseline="30000" dirty="0">
                <a:solidFill>
                  <a:schemeClr val="bg2">
                    <a:lumMod val="75000"/>
                  </a:schemeClr>
                </a:solidFill>
                <a:latin typeface="Bahnschrift" panose="020B0502040204020203" pitchFamily="34" charset="0"/>
              </a:rPr>
              <a:t> </a:t>
            </a:r>
            <a:r>
              <a:rPr lang="en-US" sz="2800" dirty="0">
                <a:solidFill>
                  <a:schemeClr val="bg2">
                    <a:lumMod val="75000"/>
                  </a:schemeClr>
                </a:solidFill>
                <a:latin typeface="Bahnschrift" panose="020B0502040204020203" pitchFamily="34" charset="0"/>
              </a:rPr>
              <a:t>and information . It has transformed the world into a tech village. Everything these days is connected to each other and that is just because of IT.</a:t>
            </a:r>
            <a:endParaRPr lang="en-IN" sz="2800" dirty="0">
              <a:solidFill>
                <a:schemeClr val="bg2">
                  <a:lumMod val="75000"/>
                </a:schemeClr>
              </a:solidFill>
              <a:latin typeface="Bahnschrift" panose="020B0502040204020203"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45" y="1524001"/>
            <a:ext cx="5854699" cy="3903133"/>
          </a:xfrm>
          <a:prstGeom prst="rect">
            <a:avLst/>
          </a:prstGeom>
        </p:spPr>
      </p:pic>
    </p:spTree>
    <p:extLst>
      <p:ext uri="{BB962C8B-B14F-4D97-AF65-F5344CB8AC3E}">
        <p14:creationId xmlns:p14="http://schemas.microsoft.com/office/powerpoint/2010/main" val="383037244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7" name="TextBox 6"/>
          <p:cNvSpPr txBox="1"/>
          <p:nvPr/>
        </p:nvSpPr>
        <p:spPr>
          <a:xfrm>
            <a:off x="4185124" y="166469"/>
            <a:ext cx="5050971" cy="646331"/>
          </a:xfrm>
          <a:prstGeom prst="rect">
            <a:avLst/>
          </a:prstGeom>
          <a:noFill/>
        </p:spPr>
        <p:txBody>
          <a:bodyPr wrap="square" rtlCol="0">
            <a:spAutoFit/>
          </a:bodyPr>
          <a:lstStyle/>
          <a:p>
            <a:r>
              <a:rPr lang="en-US" sz="3600" b="1" dirty="0">
                <a:solidFill>
                  <a:schemeClr val="tx1">
                    <a:lumMod val="50000"/>
                  </a:schemeClr>
                </a:solidFill>
              </a:rPr>
              <a:t>Where exactly is IT ?</a:t>
            </a:r>
            <a:r>
              <a:rPr lang="en-US" dirty="0"/>
              <a:t>r</a:t>
            </a:r>
            <a:endParaRPr lang="en-IN" dirty="0"/>
          </a:p>
        </p:txBody>
      </p:sp>
      <p:sp>
        <p:nvSpPr>
          <p:cNvPr id="8" name="TextBox 7"/>
          <p:cNvSpPr txBox="1"/>
          <p:nvPr/>
        </p:nvSpPr>
        <p:spPr>
          <a:xfrm>
            <a:off x="624114" y="1582057"/>
            <a:ext cx="6444343" cy="4893647"/>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The simplest answer to this question would be ‘EVERYWHERE’. Today we can communicate with one sitting thousands of miles away with a SMARTPHONE. Today we can predict when and how the weather will be like. Today we can explore the universe.  Today we can pay bills from home. Today we can study online. Today we can do almost everything we want to. This is what IT has achieved. Today IT is also the one of the largest contributors to a nations’ economy. This is what IT has achieved.</a:t>
            </a:r>
            <a:endParaRPr lang="en-IN" sz="2400" dirty="0">
              <a:solidFill>
                <a:schemeClr val="bg2"/>
              </a:solidFill>
              <a:latin typeface="Century Gothic" panose="020B0502020202020204"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3072" y="1984571"/>
            <a:ext cx="5578928" cy="3719285"/>
          </a:xfrm>
          <a:prstGeom prst="rect">
            <a:avLst/>
          </a:prstGeom>
        </p:spPr>
      </p:pic>
    </p:spTree>
    <p:extLst>
      <p:ext uri="{BB962C8B-B14F-4D97-AF65-F5344CB8AC3E}">
        <p14:creationId xmlns:p14="http://schemas.microsoft.com/office/powerpoint/2010/main" val="325567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5646059" y="145142"/>
            <a:ext cx="1509484" cy="830997"/>
          </a:xfrm>
          <a:prstGeom prst="rect">
            <a:avLst/>
          </a:prstGeom>
          <a:noFill/>
        </p:spPr>
        <p:txBody>
          <a:bodyPr wrap="square" rtlCol="0">
            <a:spAutoFit/>
          </a:bodyPr>
          <a:lstStyle/>
          <a:p>
            <a:r>
              <a:rPr lang="en-US" sz="4800" b="1" dirty="0">
                <a:solidFill>
                  <a:schemeClr val="bg2">
                    <a:lumMod val="75000"/>
                  </a:schemeClr>
                </a:solidFill>
              </a:rPr>
              <a:t>API</a:t>
            </a:r>
            <a:endParaRPr lang="en-IN" sz="4800" b="1" dirty="0">
              <a:solidFill>
                <a:schemeClr val="bg2">
                  <a:lumMod val="75000"/>
                </a:schemeClr>
              </a:solidFill>
            </a:endParaRPr>
          </a:p>
        </p:txBody>
      </p:sp>
      <p:sp>
        <p:nvSpPr>
          <p:cNvPr id="3" name="TextBox 2"/>
          <p:cNvSpPr txBox="1"/>
          <p:nvPr/>
        </p:nvSpPr>
        <p:spPr>
          <a:xfrm>
            <a:off x="489858" y="976139"/>
            <a:ext cx="11488056" cy="3785652"/>
          </a:xfrm>
          <a:prstGeom prst="rect">
            <a:avLst/>
          </a:prstGeom>
          <a:noFill/>
        </p:spPr>
        <p:txBody>
          <a:bodyPr wrap="square" rtlCol="0">
            <a:spAutoFit/>
          </a:bodyPr>
          <a:lstStyle/>
          <a:p>
            <a:r>
              <a:rPr lang="en-US" sz="2400" dirty="0">
                <a:solidFill>
                  <a:schemeClr val="bg2">
                    <a:lumMod val="75000"/>
                  </a:schemeClr>
                </a:solidFill>
              </a:rPr>
              <a:t>An </a:t>
            </a:r>
            <a:r>
              <a:rPr lang="en-US" sz="2400" b="1" dirty="0">
                <a:solidFill>
                  <a:schemeClr val="bg2">
                    <a:lumMod val="75000"/>
                  </a:schemeClr>
                </a:solidFill>
              </a:rPr>
              <a:t>application programming interface</a:t>
            </a:r>
            <a:r>
              <a:rPr lang="en-US" sz="2400" dirty="0">
                <a:solidFill>
                  <a:schemeClr val="bg2">
                    <a:lumMod val="75000"/>
                  </a:schemeClr>
                </a:solidFill>
              </a:rPr>
              <a:t> (</a:t>
            </a:r>
            <a:r>
              <a:rPr lang="en-US" sz="2400" b="1" dirty="0">
                <a:solidFill>
                  <a:schemeClr val="bg2">
                    <a:lumMod val="75000"/>
                  </a:schemeClr>
                </a:solidFill>
              </a:rPr>
              <a:t>API</a:t>
            </a:r>
            <a:r>
              <a:rPr lang="en-US" sz="2400" dirty="0">
                <a:solidFill>
                  <a:schemeClr val="bg2">
                    <a:lumMod val="75000"/>
                  </a:schemeClr>
                </a:solidFill>
              </a:rPr>
              <a:t>) is a connection between computers or between computer programs. It is a type of connection between software that offer a particular piece of service developed by one to the other . They reduce the time and money you have to invest while developing because the lesser code you have to write, the more convenient it gets. For an instance , take weather apps .Now common developers can’t afford to establish a meteorological satellite in solar system. In that case they use the weather APIs provided by the other companies who have their own satellites.</a:t>
            </a:r>
          </a:p>
          <a:p>
            <a:endParaRPr lang="en-US" sz="2400" dirty="0">
              <a:solidFill>
                <a:schemeClr val="bg2">
                  <a:lumMod val="75000"/>
                </a:schemeClr>
              </a:solidFill>
            </a:endParaRPr>
          </a:p>
          <a:p>
            <a:r>
              <a:rPr lang="en-US" sz="2400" dirty="0">
                <a:solidFill>
                  <a:schemeClr val="bg2">
                    <a:lumMod val="75000"/>
                  </a:schemeClr>
                </a:solidFill>
              </a:rPr>
              <a:t>Major tech companies like </a:t>
            </a:r>
            <a:r>
              <a:rPr lang="en-US" sz="2400" b="1" dirty="0">
                <a:solidFill>
                  <a:schemeClr val="bg2">
                    <a:lumMod val="75000"/>
                  </a:schemeClr>
                </a:solidFill>
              </a:rPr>
              <a:t>Google, Amazon, and Twitter</a:t>
            </a:r>
            <a:r>
              <a:rPr lang="en-US" sz="2400" dirty="0">
                <a:solidFill>
                  <a:schemeClr val="bg2">
                    <a:lumMod val="75000"/>
                  </a:schemeClr>
                </a:solidFill>
              </a:rPr>
              <a:t> provide their own APIs to ease developers' lives. </a:t>
            </a:r>
            <a:endParaRPr lang="en-IN" sz="2400" dirty="0">
              <a:solidFill>
                <a:schemeClr val="bg2">
                  <a:lumMod val="75000"/>
                </a:schemeClr>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6637" y="4761791"/>
            <a:ext cx="2062917" cy="206291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9684" y="4761791"/>
            <a:ext cx="2148403" cy="2148403"/>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5194" y="4925778"/>
            <a:ext cx="3098113" cy="1734943"/>
          </a:xfrm>
          <a:prstGeom prst="rect">
            <a:avLst/>
          </a:prstGeom>
        </p:spPr>
      </p:pic>
    </p:spTree>
    <p:extLst>
      <p:ext uri="{BB962C8B-B14F-4D97-AF65-F5344CB8AC3E}">
        <p14:creationId xmlns:p14="http://schemas.microsoft.com/office/powerpoint/2010/main" val="314232663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
            <a:lum/>
          </a:blip>
          <a:srcRect/>
          <a:stretch>
            <a:fillRect t="-9000" b="-9000"/>
          </a:stretch>
        </a:blipFill>
        <a:effectLst/>
      </p:bgPr>
    </p:bg>
    <p:spTree>
      <p:nvGrpSpPr>
        <p:cNvPr id="1" name=""/>
        <p:cNvGrpSpPr/>
        <p:nvPr/>
      </p:nvGrpSpPr>
      <p:grpSpPr>
        <a:xfrm>
          <a:off x="0" y="0"/>
          <a:ext cx="0" cy="0"/>
          <a:chOff x="0" y="0"/>
          <a:chExt cx="0" cy="0"/>
        </a:xfrm>
      </p:grpSpPr>
      <p:sp>
        <p:nvSpPr>
          <p:cNvPr id="3" name="TextBox 2"/>
          <p:cNvSpPr txBox="1"/>
          <p:nvPr/>
        </p:nvSpPr>
        <p:spPr>
          <a:xfrm>
            <a:off x="4470399" y="0"/>
            <a:ext cx="3512457" cy="707886"/>
          </a:xfrm>
          <a:prstGeom prst="rect">
            <a:avLst/>
          </a:prstGeom>
          <a:noFill/>
        </p:spPr>
        <p:txBody>
          <a:bodyPr wrap="square" rtlCol="0">
            <a:spAutoFit/>
          </a:bodyPr>
          <a:lstStyle/>
          <a:p>
            <a:r>
              <a:rPr lang="en-US" sz="4000" b="1" dirty="0">
                <a:solidFill>
                  <a:schemeClr val="bg2">
                    <a:lumMod val="75000"/>
                  </a:schemeClr>
                </a:solidFill>
              </a:rPr>
              <a:t>History of APIs</a:t>
            </a:r>
            <a:endParaRPr lang="en-IN" sz="4000" b="1" dirty="0">
              <a:solidFill>
                <a:schemeClr val="bg2">
                  <a:lumMod val="75000"/>
                </a:schemeClr>
              </a:solidFill>
            </a:endParaRPr>
          </a:p>
        </p:txBody>
      </p:sp>
      <p:sp>
        <p:nvSpPr>
          <p:cNvPr id="4" name="TextBox 3"/>
          <p:cNvSpPr txBox="1"/>
          <p:nvPr/>
        </p:nvSpPr>
        <p:spPr>
          <a:xfrm>
            <a:off x="638627" y="1306286"/>
            <a:ext cx="6241145" cy="4893647"/>
          </a:xfrm>
          <a:prstGeom prst="rect">
            <a:avLst/>
          </a:prstGeom>
          <a:noFill/>
        </p:spPr>
        <p:txBody>
          <a:bodyPr wrap="square" rtlCol="0">
            <a:spAutoFit/>
          </a:bodyPr>
          <a:lstStyle/>
          <a:p>
            <a:r>
              <a:rPr lang="en-US" sz="2400" dirty="0">
                <a:solidFill>
                  <a:schemeClr val="tx2">
                    <a:lumMod val="25000"/>
                  </a:schemeClr>
                </a:solidFill>
                <a:latin typeface="Cambria Math" panose="02040503050406030204" pitchFamily="18" charset="0"/>
                <a:ea typeface="Cambria Math" panose="02040503050406030204" pitchFamily="18" charset="0"/>
              </a:rPr>
              <a:t>The term</a:t>
            </a:r>
            <a:r>
              <a:rPr lang="en-US" sz="2400" b="1" dirty="0">
                <a:solidFill>
                  <a:schemeClr val="tx2">
                    <a:lumMod val="25000"/>
                  </a:schemeClr>
                </a:solidFill>
                <a:latin typeface="Cambria Math" panose="02040503050406030204" pitchFamily="18" charset="0"/>
                <a:ea typeface="Cambria Math" panose="02040503050406030204" pitchFamily="18" charset="0"/>
              </a:rPr>
              <a:t> API </a:t>
            </a:r>
            <a:r>
              <a:rPr lang="en-US" sz="2400" dirty="0">
                <a:solidFill>
                  <a:schemeClr val="tx2">
                    <a:lumMod val="25000"/>
                  </a:schemeClr>
                </a:solidFill>
                <a:latin typeface="Cambria Math" panose="02040503050406030204" pitchFamily="18" charset="0"/>
                <a:ea typeface="Cambria Math" panose="02040503050406030204" pitchFamily="18" charset="0"/>
              </a:rPr>
              <a:t>initially described an interface only for end-user-facing programs, known as </a:t>
            </a:r>
            <a:r>
              <a:rPr lang="en-US" sz="2400" b="1" dirty="0">
                <a:solidFill>
                  <a:schemeClr val="tx2">
                    <a:lumMod val="25000"/>
                  </a:schemeClr>
                </a:solidFill>
                <a:latin typeface="Cambria Math" panose="02040503050406030204" pitchFamily="18" charset="0"/>
                <a:ea typeface="Cambria Math" panose="02040503050406030204" pitchFamily="18" charset="0"/>
              </a:rPr>
              <a:t>application programs</a:t>
            </a:r>
            <a:r>
              <a:rPr lang="en-US" sz="2400" dirty="0">
                <a:solidFill>
                  <a:schemeClr val="tx2">
                    <a:lumMod val="25000"/>
                  </a:schemeClr>
                </a:solidFill>
                <a:latin typeface="Cambria Math" panose="02040503050406030204" pitchFamily="18" charset="0"/>
                <a:ea typeface="Cambria Math" panose="02040503050406030204" pitchFamily="18" charset="0"/>
              </a:rPr>
              <a:t>. This origin can still be seen in the name "application programming interface." Today, the term is broader, including also</a:t>
            </a:r>
            <a:r>
              <a:rPr lang="en-US" sz="2400" b="1" dirty="0">
                <a:solidFill>
                  <a:schemeClr val="tx2">
                    <a:lumMod val="25000"/>
                  </a:schemeClr>
                </a:solidFill>
                <a:latin typeface="Cambria Math" panose="02040503050406030204" pitchFamily="18" charset="0"/>
                <a:ea typeface="Cambria Math" panose="02040503050406030204" pitchFamily="18" charset="0"/>
              </a:rPr>
              <a:t> utility software</a:t>
            </a:r>
            <a:r>
              <a:rPr lang="en-US" sz="2400" dirty="0">
                <a:solidFill>
                  <a:schemeClr val="tx2">
                    <a:lumMod val="25000"/>
                  </a:schemeClr>
                </a:solidFill>
                <a:latin typeface="Cambria Math" panose="02040503050406030204" pitchFamily="18" charset="0"/>
                <a:ea typeface="Cambria Math" panose="02040503050406030204" pitchFamily="18" charset="0"/>
              </a:rPr>
              <a:t> and even</a:t>
            </a:r>
            <a:r>
              <a:rPr lang="en-US" sz="2400" b="1" dirty="0">
                <a:solidFill>
                  <a:schemeClr val="tx2">
                    <a:lumMod val="25000"/>
                  </a:schemeClr>
                </a:solidFill>
                <a:latin typeface="Cambria Math" panose="02040503050406030204" pitchFamily="18" charset="0"/>
                <a:ea typeface="Cambria Math" panose="02040503050406030204" pitchFamily="18" charset="0"/>
              </a:rPr>
              <a:t> hardware interfaces</a:t>
            </a:r>
            <a:r>
              <a:rPr lang="en-US" sz="2400" dirty="0">
                <a:solidFill>
                  <a:schemeClr val="tx2">
                    <a:lumMod val="25000"/>
                  </a:schemeClr>
                </a:solidFill>
                <a:latin typeface="Cambria Math" panose="02040503050406030204" pitchFamily="18" charset="0"/>
                <a:ea typeface="Cambria Math" panose="02040503050406030204" pitchFamily="18" charset="0"/>
              </a:rPr>
              <a:t>.</a:t>
            </a:r>
          </a:p>
          <a:p>
            <a:endParaRPr lang="en-US" sz="2400" dirty="0">
              <a:solidFill>
                <a:schemeClr val="bg1">
                  <a:lumMod val="95000"/>
                  <a:lumOff val="5000"/>
                </a:schemeClr>
              </a:solidFill>
              <a:latin typeface="Cambria Math" panose="02040503050406030204" pitchFamily="18" charset="0"/>
              <a:ea typeface="Cambria Math" panose="02040503050406030204" pitchFamily="18" charset="0"/>
            </a:endParaRPr>
          </a:p>
          <a:p>
            <a:r>
              <a:rPr lang="en-US" sz="2400" dirty="0">
                <a:solidFill>
                  <a:schemeClr val="tx2">
                    <a:lumMod val="25000"/>
                  </a:schemeClr>
                </a:solidFill>
                <a:latin typeface="Cambria Math" panose="02040503050406030204" pitchFamily="18" charset="0"/>
                <a:ea typeface="Cambria Math" panose="02040503050406030204" pitchFamily="18" charset="0"/>
              </a:rPr>
              <a:t>The idea of the API is much older than the term itself. British computer scientists </a:t>
            </a:r>
            <a:r>
              <a:rPr lang="en-US" sz="2400" b="1" dirty="0">
                <a:solidFill>
                  <a:schemeClr val="tx2">
                    <a:lumMod val="25000"/>
                  </a:schemeClr>
                </a:solidFill>
                <a:latin typeface="Cambria Math" panose="02040503050406030204" pitchFamily="18" charset="0"/>
                <a:ea typeface="Cambria Math" panose="02040503050406030204" pitchFamily="18" charset="0"/>
              </a:rPr>
              <a:t>Maurice Wilkes</a:t>
            </a:r>
            <a:r>
              <a:rPr lang="en-US" sz="2400" dirty="0">
                <a:solidFill>
                  <a:schemeClr val="tx2">
                    <a:lumMod val="25000"/>
                  </a:schemeClr>
                </a:solidFill>
                <a:latin typeface="Cambria Math" panose="02040503050406030204" pitchFamily="18" charset="0"/>
                <a:ea typeface="Cambria Math" panose="02040503050406030204" pitchFamily="18" charset="0"/>
              </a:rPr>
              <a:t> and </a:t>
            </a:r>
            <a:r>
              <a:rPr lang="en-US" sz="2400" b="1" dirty="0">
                <a:solidFill>
                  <a:schemeClr val="tx2">
                    <a:lumMod val="25000"/>
                  </a:schemeClr>
                </a:solidFill>
                <a:latin typeface="Cambria Math" panose="02040503050406030204" pitchFamily="18" charset="0"/>
                <a:ea typeface="Cambria Math" panose="02040503050406030204" pitchFamily="18" charset="0"/>
              </a:rPr>
              <a:t>David Wheeler </a:t>
            </a:r>
            <a:r>
              <a:rPr lang="en-US" sz="2400" dirty="0">
                <a:solidFill>
                  <a:schemeClr val="tx2">
                    <a:lumMod val="25000"/>
                  </a:schemeClr>
                </a:solidFill>
                <a:latin typeface="Cambria Math" panose="02040503050406030204" pitchFamily="18" charset="0"/>
                <a:ea typeface="Cambria Math" panose="02040503050406030204" pitchFamily="18" charset="0"/>
              </a:rPr>
              <a:t>worked on a modular software library in the 1940s for </a:t>
            </a:r>
            <a:r>
              <a:rPr lang="en-US" sz="2400" b="1" dirty="0">
                <a:solidFill>
                  <a:schemeClr val="tx2">
                    <a:lumMod val="25000"/>
                  </a:schemeClr>
                </a:solidFill>
                <a:latin typeface="Cambria Math" panose="02040503050406030204" pitchFamily="18" charset="0"/>
                <a:ea typeface="Cambria Math" panose="02040503050406030204" pitchFamily="18" charset="0"/>
              </a:rPr>
              <a:t>EDSAC</a:t>
            </a:r>
            <a:r>
              <a:rPr lang="en-US" sz="2400" dirty="0">
                <a:solidFill>
                  <a:schemeClr val="tx2">
                    <a:lumMod val="25000"/>
                  </a:schemeClr>
                </a:solidFill>
                <a:latin typeface="Cambria Math" panose="02040503050406030204" pitchFamily="18" charset="0"/>
                <a:ea typeface="Cambria Math" panose="02040503050406030204" pitchFamily="18" charset="0"/>
              </a:rPr>
              <a:t>, an early computer.</a:t>
            </a:r>
            <a:endParaRPr lang="en-IN" sz="2400" dirty="0">
              <a:solidFill>
                <a:schemeClr val="tx2">
                  <a:lumMod val="25000"/>
                </a:schemeClr>
              </a:solidFill>
              <a:latin typeface="Cambria Math" panose="02040503050406030204" pitchFamily="18" charset="0"/>
              <a:ea typeface="Cambria Math" panose="020405030504060302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6869" y="1881220"/>
            <a:ext cx="4749009" cy="3097180"/>
          </a:xfrm>
          <a:prstGeom prst="rect">
            <a:avLst/>
          </a:prstGeom>
        </p:spPr>
      </p:pic>
      <p:sp>
        <p:nvSpPr>
          <p:cNvPr id="6" name="TextBox 5"/>
          <p:cNvSpPr txBox="1"/>
          <p:nvPr/>
        </p:nvSpPr>
        <p:spPr>
          <a:xfrm>
            <a:off x="7066869" y="4978400"/>
            <a:ext cx="2222274" cy="307777"/>
          </a:xfrm>
          <a:prstGeom prst="rect">
            <a:avLst/>
          </a:prstGeom>
          <a:noFill/>
        </p:spPr>
        <p:txBody>
          <a:bodyPr wrap="square" rtlCol="0">
            <a:spAutoFit/>
          </a:bodyPr>
          <a:lstStyle/>
          <a:p>
            <a:r>
              <a:rPr lang="en-US" sz="1400" i="1" dirty="0">
                <a:solidFill>
                  <a:schemeClr val="bg2">
                    <a:lumMod val="75000"/>
                  </a:schemeClr>
                </a:solidFill>
              </a:rPr>
              <a:t>Source: Wikipedia</a:t>
            </a:r>
            <a:endParaRPr lang="en-IN" sz="1400" i="1" dirty="0">
              <a:solidFill>
                <a:schemeClr val="bg2">
                  <a:lumMod val="75000"/>
                </a:schemeClr>
              </a:solidFill>
            </a:endParaRPr>
          </a:p>
        </p:txBody>
      </p:sp>
    </p:spTree>
    <p:extLst>
      <p:ext uri="{BB962C8B-B14F-4D97-AF65-F5344CB8AC3E}">
        <p14:creationId xmlns:p14="http://schemas.microsoft.com/office/powerpoint/2010/main" val="407565595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3969656" y="0"/>
            <a:ext cx="4288973" cy="584775"/>
          </a:xfrm>
          <a:prstGeom prst="rect">
            <a:avLst/>
          </a:prstGeom>
          <a:noFill/>
        </p:spPr>
        <p:txBody>
          <a:bodyPr wrap="square" rtlCol="0">
            <a:spAutoFit/>
          </a:bodyPr>
          <a:lstStyle/>
          <a:p>
            <a:r>
              <a:rPr lang="en-US" sz="3200" b="1" dirty="0">
                <a:solidFill>
                  <a:srgbClr val="FF0000"/>
                </a:solidFill>
              </a:rPr>
              <a:t>How does an API work?</a:t>
            </a:r>
            <a:endParaRPr lang="en-IN" sz="3200" b="1" dirty="0">
              <a:solidFill>
                <a:srgbClr val="FF0000"/>
              </a:solidFill>
            </a:endParaRPr>
          </a:p>
        </p:txBody>
      </p:sp>
      <p:sp>
        <p:nvSpPr>
          <p:cNvPr id="4" name="TextBox 3"/>
          <p:cNvSpPr txBox="1"/>
          <p:nvPr/>
        </p:nvSpPr>
        <p:spPr>
          <a:xfrm>
            <a:off x="446313" y="943429"/>
            <a:ext cx="6709230" cy="5940088"/>
          </a:xfrm>
          <a:prstGeom prst="rect">
            <a:avLst/>
          </a:prstGeom>
          <a:noFill/>
        </p:spPr>
        <p:txBody>
          <a:bodyPr wrap="square" rtlCol="0">
            <a:spAutoFit/>
          </a:bodyPr>
          <a:lstStyle/>
          <a:p>
            <a:r>
              <a:rPr lang="en-US" sz="2000" dirty="0">
                <a:solidFill>
                  <a:schemeClr val="accent2">
                    <a:lumMod val="75000"/>
                  </a:schemeClr>
                </a:solidFill>
              </a:rPr>
              <a:t>APIs have increased the productivity of developers drastically. Now they don’t need to write the complex codes again that have already been written.</a:t>
            </a:r>
          </a:p>
          <a:p>
            <a:r>
              <a:rPr lang="en-US" sz="2000" dirty="0">
                <a:solidFill>
                  <a:schemeClr val="accent2">
                    <a:lumMod val="75000"/>
                  </a:schemeClr>
                </a:solidFill>
              </a:rPr>
              <a:t> </a:t>
            </a:r>
          </a:p>
          <a:p>
            <a:r>
              <a:rPr lang="en-US" sz="2000" dirty="0">
                <a:solidFill>
                  <a:schemeClr val="accent2">
                    <a:lumMod val="75000"/>
                  </a:schemeClr>
                </a:solidFill>
              </a:rPr>
              <a:t>APIs act as a middleman between two software. Let‘s understand this through an example.</a:t>
            </a:r>
          </a:p>
          <a:p>
            <a:r>
              <a:rPr lang="en-US" sz="2000" dirty="0">
                <a:solidFill>
                  <a:schemeClr val="accent2">
                    <a:lumMod val="75000"/>
                  </a:schemeClr>
                </a:solidFill>
              </a:rPr>
              <a:t>Consider you have to book an airline ticket for a flight by IndiGo Airlines. To book the ticket, you go to ixigo.com that books an airline ticket for IndiGo. Now, how is it possible that a third-party website i.e. ixigo books an airline of IndiGo for you? This is where API comes into play. Through the API, IndiGo allows ixigo to get the necessary data about seats etc. and when you book a seat ixigo books it in the IndiGo severs also through the API so that if anyone else tries to book the same seat through other third-party software like via.com, PayTM or through the IndiGo itself, they find that seat already booked. Now, in the market, no company trusts other so easily and no one would like to share their data with third party software. This is where the API Keys work.</a:t>
            </a:r>
            <a:endParaRPr lang="en-IN" sz="2000" dirty="0">
              <a:solidFill>
                <a:schemeClr val="accent2">
                  <a:lumMod val="75000"/>
                </a:scheme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5542" y="1903866"/>
            <a:ext cx="5036457" cy="3115409"/>
          </a:xfrm>
          <a:prstGeom prst="rect">
            <a:avLst/>
          </a:prstGeom>
        </p:spPr>
      </p:pic>
    </p:spTree>
    <p:extLst>
      <p:ext uri="{BB962C8B-B14F-4D97-AF65-F5344CB8AC3E}">
        <p14:creationId xmlns:p14="http://schemas.microsoft.com/office/powerpoint/2010/main" val="23951172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9000" b="-9000"/>
          </a:stretch>
        </a:blipFill>
        <a:effectLst/>
      </p:bgPr>
    </p:bg>
    <p:spTree>
      <p:nvGrpSpPr>
        <p:cNvPr id="1" name=""/>
        <p:cNvGrpSpPr/>
        <p:nvPr/>
      </p:nvGrpSpPr>
      <p:grpSpPr>
        <a:xfrm>
          <a:off x="0" y="0"/>
          <a:ext cx="0" cy="0"/>
          <a:chOff x="0" y="0"/>
          <a:chExt cx="0" cy="0"/>
        </a:xfrm>
      </p:grpSpPr>
      <p:sp>
        <p:nvSpPr>
          <p:cNvPr id="2" name="TextBox 1"/>
          <p:cNvSpPr txBox="1"/>
          <p:nvPr/>
        </p:nvSpPr>
        <p:spPr>
          <a:xfrm>
            <a:off x="5457372" y="188685"/>
            <a:ext cx="1973942" cy="769441"/>
          </a:xfrm>
          <a:prstGeom prst="rect">
            <a:avLst/>
          </a:prstGeom>
          <a:noFill/>
        </p:spPr>
        <p:txBody>
          <a:bodyPr wrap="square" rtlCol="0">
            <a:spAutoFit/>
          </a:bodyPr>
          <a:lstStyle/>
          <a:p>
            <a:r>
              <a:rPr lang="en-US" sz="4400" b="1" dirty="0">
                <a:solidFill>
                  <a:srgbClr val="7030A0"/>
                </a:solidFill>
              </a:rPr>
              <a:t>API Key</a:t>
            </a:r>
            <a:endParaRPr lang="en-IN" sz="4400" b="1" dirty="0">
              <a:solidFill>
                <a:srgbClr val="7030A0"/>
              </a:solidFill>
            </a:endParaRPr>
          </a:p>
        </p:txBody>
      </p:sp>
      <p:sp>
        <p:nvSpPr>
          <p:cNvPr id="3" name="TextBox 2"/>
          <p:cNvSpPr txBox="1"/>
          <p:nvPr/>
        </p:nvSpPr>
        <p:spPr>
          <a:xfrm>
            <a:off x="464458" y="1348800"/>
            <a:ext cx="6458857" cy="5509200"/>
          </a:xfrm>
          <a:prstGeom prst="rect">
            <a:avLst/>
          </a:prstGeom>
          <a:noFill/>
        </p:spPr>
        <p:txBody>
          <a:bodyPr wrap="square" rtlCol="0">
            <a:spAutoFit/>
          </a:bodyPr>
          <a:lstStyle/>
          <a:p>
            <a:r>
              <a:rPr lang="en-US" sz="3200" dirty="0">
                <a:solidFill>
                  <a:schemeClr val="accent5">
                    <a:lumMod val="50000"/>
                  </a:schemeClr>
                </a:solidFill>
              </a:rPr>
              <a:t>The </a:t>
            </a:r>
            <a:r>
              <a:rPr lang="en-US" sz="3200" b="1" dirty="0">
                <a:solidFill>
                  <a:schemeClr val="accent5">
                    <a:lumMod val="50000"/>
                  </a:schemeClr>
                </a:solidFill>
              </a:rPr>
              <a:t>API key</a:t>
            </a:r>
            <a:r>
              <a:rPr lang="en-US" sz="3200" dirty="0">
                <a:solidFill>
                  <a:schemeClr val="accent5">
                    <a:lumMod val="50000"/>
                  </a:schemeClr>
                </a:solidFill>
              </a:rPr>
              <a:t> is a unique identifier that authenticates requests associated with your project for usage and billing purposes. Now, in the previous example, IndiGo gives each of the third-party software a unique code i.e. API key that is required and identified by the IndiGo severs before they give their data to those. So, API keys make data transfer much more trustworthy.</a:t>
            </a:r>
            <a:endParaRPr lang="en-IN" sz="3200" dirty="0">
              <a:solidFill>
                <a:schemeClr val="accent5">
                  <a:lumMod val="50000"/>
                </a:schemeClr>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3315" y="958126"/>
            <a:ext cx="6096000" cy="6096000"/>
          </a:xfrm>
          <a:prstGeom prst="rect">
            <a:avLst/>
          </a:prstGeom>
        </p:spPr>
      </p:pic>
    </p:spTree>
    <p:extLst>
      <p:ext uri="{BB962C8B-B14F-4D97-AF65-F5344CB8AC3E}">
        <p14:creationId xmlns:p14="http://schemas.microsoft.com/office/powerpoint/2010/main" val="4035366251"/>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extBox 1"/>
          <p:cNvSpPr txBox="1"/>
          <p:nvPr/>
        </p:nvSpPr>
        <p:spPr>
          <a:xfrm>
            <a:off x="3503384" y="0"/>
            <a:ext cx="5069116" cy="707886"/>
          </a:xfrm>
          <a:prstGeom prst="rect">
            <a:avLst/>
          </a:prstGeom>
          <a:noFill/>
        </p:spPr>
        <p:txBody>
          <a:bodyPr wrap="square" rtlCol="0">
            <a:spAutoFit/>
          </a:bodyPr>
          <a:lstStyle/>
          <a:p>
            <a:r>
              <a:rPr lang="en-US" sz="4000" b="1" dirty="0">
                <a:solidFill>
                  <a:schemeClr val="accent6">
                    <a:lumMod val="75000"/>
                  </a:schemeClr>
                </a:solidFill>
              </a:rPr>
              <a:t>Open and Private APIs</a:t>
            </a:r>
            <a:endParaRPr lang="en-IN" sz="4000" b="1" dirty="0">
              <a:solidFill>
                <a:schemeClr val="accent6">
                  <a:lumMod val="75000"/>
                </a:schemeClr>
              </a:solidFill>
            </a:endParaRPr>
          </a:p>
        </p:txBody>
      </p:sp>
      <p:sp>
        <p:nvSpPr>
          <p:cNvPr id="3" name="TextBox 2"/>
          <p:cNvSpPr txBox="1"/>
          <p:nvPr/>
        </p:nvSpPr>
        <p:spPr>
          <a:xfrm>
            <a:off x="116112" y="1364342"/>
            <a:ext cx="7663544" cy="4893647"/>
          </a:xfrm>
          <a:prstGeom prst="rect">
            <a:avLst/>
          </a:prstGeom>
          <a:noFill/>
        </p:spPr>
        <p:txBody>
          <a:bodyPr wrap="square" rtlCol="0">
            <a:spAutoFit/>
          </a:bodyPr>
          <a:lstStyle/>
          <a:p>
            <a:r>
              <a:rPr lang="en-US" sz="2400" dirty="0">
                <a:solidFill>
                  <a:schemeClr val="accent6">
                    <a:lumMod val="50000"/>
                  </a:schemeClr>
                </a:solidFill>
              </a:rPr>
              <a:t>An </a:t>
            </a:r>
            <a:r>
              <a:rPr lang="en-US" sz="2400" b="1" dirty="0">
                <a:solidFill>
                  <a:schemeClr val="accent6">
                    <a:lumMod val="50000"/>
                  </a:schemeClr>
                </a:solidFill>
              </a:rPr>
              <a:t>Open API </a:t>
            </a:r>
            <a:r>
              <a:rPr lang="en-US" sz="2400" dirty="0">
                <a:solidFill>
                  <a:schemeClr val="accent6">
                    <a:lumMod val="50000"/>
                  </a:schemeClr>
                </a:solidFill>
              </a:rPr>
              <a:t>is a public API i.e. it is publicly available to software developers. They can access these APIs and can enjoy the service anytime. For instance, the ability to create an account on an external site/app using your Google credentials is made possible using Google's open API.</a:t>
            </a:r>
          </a:p>
          <a:p>
            <a:endParaRPr lang="en-US" sz="2400" dirty="0">
              <a:solidFill>
                <a:schemeClr val="accent6">
                  <a:lumMod val="50000"/>
                </a:schemeClr>
              </a:solidFill>
            </a:endParaRPr>
          </a:p>
          <a:p>
            <a:r>
              <a:rPr lang="en-US" sz="2400" dirty="0">
                <a:solidFill>
                  <a:schemeClr val="accent6">
                    <a:lumMod val="50000"/>
                  </a:schemeClr>
                </a:solidFill>
              </a:rPr>
              <a:t>A </a:t>
            </a:r>
            <a:r>
              <a:rPr lang="en-US" sz="2400" b="1" dirty="0">
                <a:solidFill>
                  <a:schemeClr val="accent6">
                    <a:lumMod val="50000"/>
                  </a:schemeClr>
                </a:solidFill>
              </a:rPr>
              <a:t>Private API </a:t>
            </a:r>
            <a:r>
              <a:rPr lang="en-US" sz="2400" dirty="0">
                <a:solidFill>
                  <a:schemeClr val="accent6">
                    <a:lumMod val="50000"/>
                  </a:schemeClr>
                </a:solidFill>
              </a:rPr>
              <a:t>is an interface that opens parts of an organization's backend data and application functionality for use by developers working within (or contractors working for) that organization. Private APIs are only exposed to internal developers therefore the API publishers have total control over what and how applications are developed.</a:t>
            </a:r>
            <a:endParaRPr lang="en-IN" sz="2400" dirty="0">
              <a:solidFill>
                <a:schemeClr val="accent6">
                  <a:lumMod val="50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9656" y="1024421"/>
            <a:ext cx="3694547" cy="278674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9656" y="4151086"/>
            <a:ext cx="4185783" cy="2208034"/>
          </a:xfrm>
          <a:prstGeom prst="rect">
            <a:avLst/>
          </a:prstGeom>
        </p:spPr>
      </p:pic>
    </p:spTree>
    <p:extLst>
      <p:ext uri="{BB962C8B-B14F-4D97-AF65-F5344CB8AC3E}">
        <p14:creationId xmlns:p14="http://schemas.microsoft.com/office/powerpoint/2010/main" val="3325715877"/>
      </p:ext>
    </p:extLst>
  </p:cSld>
  <p:clrMapOvr>
    <a:masterClrMapping/>
  </p:clrMapOvr>
  <mc:AlternateContent xmlns:mc="http://schemas.openxmlformats.org/markup-compatibility/2006" xmlns:p14="http://schemas.microsoft.com/office/powerpoint/2010/main">
    <mc:Choice Requires="p14">
      <p:transition spd="slow">
        <p14:window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077028" y="130628"/>
            <a:ext cx="6676571" cy="646331"/>
          </a:xfrm>
          <a:prstGeom prst="rect">
            <a:avLst/>
          </a:prstGeom>
          <a:noFill/>
        </p:spPr>
        <p:txBody>
          <a:bodyPr wrap="square" rtlCol="0">
            <a:spAutoFit/>
          </a:bodyPr>
          <a:lstStyle/>
          <a:p>
            <a:r>
              <a:rPr lang="en-US" sz="3600" b="1" dirty="0">
                <a:solidFill>
                  <a:schemeClr val="accent2">
                    <a:lumMod val="75000"/>
                  </a:schemeClr>
                </a:solidFill>
              </a:rPr>
              <a:t>Some Popular Apps that use APIs</a:t>
            </a:r>
            <a:endParaRPr lang="en-IN" sz="3600" b="1" dirty="0">
              <a:solidFill>
                <a:schemeClr val="accent2">
                  <a:lumMod val="75000"/>
                </a:schemeClr>
              </a:solidFill>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971" y="1262743"/>
            <a:ext cx="4696178" cy="26416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7207" y="1441186"/>
            <a:ext cx="4117957" cy="228471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6185" y="3697617"/>
            <a:ext cx="4522444" cy="3387467"/>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5164" y="1372987"/>
            <a:ext cx="3493296" cy="232463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69118" y="4184575"/>
            <a:ext cx="3378970" cy="2413550"/>
          </a:xfrm>
          <a:prstGeom prst="rect">
            <a:avLst/>
          </a:prstGeom>
        </p:spPr>
      </p:pic>
    </p:spTree>
    <p:extLst>
      <p:ext uri="{BB962C8B-B14F-4D97-AF65-F5344CB8AC3E}">
        <p14:creationId xmlns:p14="http://schemas.microsoft.com/office/powerpoint/2010/main" val="59198918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040478168"/>
              </p:ext>
            </p:extLst>
          </p:nvPr>
        </p:nvGraphicFramePr>
        <p:xfrm>
          <a:off x="388551" y="274822"/>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8882743" y="5657671"/>
            <a:ext cx="3309257" cy="1200329"/>
          </a:xfrm>
          <a:prstGeom prst="rect">
            <a:avLst/>
          </a:prstGeom>
          <a:noFill/>
        </p:spPr>
        <p:txBody>
          <a:bodyPr wrap="square" rtlCol="0">
            <a:spAutoFit/>
          </a:bodyPr>
          <a:lstStyle/>
          <a:p>
            <a:pPr marL="285750" indent="-285750">
              <a:buFontTx/>
              <a:buChar char="-"/>
            </a:pPr>
            <a:r>
              <a:rPr lang="en-US" sz="3600" dirty="0">
                <a:solidFill>
                  <a:schemeClr val="bg1">
                    <a:lumMod val="95000"/>
                    <a:lumOff val="5000"/>
                  </a:schemeClr>
                </a:solidFill>
              </a:rPr>
              <a:t>Japneet Singh</a:t>
            </a:r>
          </a:p>
          <a:p>
            <a:r>
              <a:rPr lang="en-US" sz="3600" dirty="0">
                <a:solidFill>
                  <a:schemeClr val="bg1">
                    <a:lumMod val="95000"/>
                    <a:lumOff val="5000"/>
                  </a:schemeClr>
                </a:solidFill>
              </a:rPr>
              <a:t>      10</a:t>
            </a:r>
            <a:r>
              <a:rPr lang="en-US" sz="3600" baseline="30000" dirty="0">
                <a:solidFill>
                  <a:schemeClr val="bg1">
                    <a:lumMod val="95000"/>
                    <a:lumOff val="5000"/>
                  </a:schemeClr>
                </a:solidFill>
              </a:rPr>
              <a:t>th</a:t>
            </a:r>
            <a:r>
              <a:rPr lang="en-US" sz="3600" dirty="0">
                <a:solidFill>
                  <a:schemeClr val="bg1">
                    <a:lumMod val="95000"/>
                    <a:lumOff val="5000"/>
                  </a:schemeClr>
                </a:solidFill>
              </a:rPr>
              <a:t> Red</a:t>
            </a:r>
            <a:endParaRPr lang="en-IN" sz="3600" dirty="0">
              <a:solidFill>
                <a:schemeClr val="bg1">
                  <a:lumMod val="95000"/>
                  <a:lumOff val="5000"/>
                </a:schemeClr>
              </a:solidFill>
            </a:endParaRPr>
          </a:p>
        </p:txBody>
      </p:sp>
    </p:spTree>
    <p:extLst>
      <p:ext uri="{BB962C8B-B14F-4D97-AF65-F5344CB8AC3E}">
        <p14:creationId xmlns:p14="http://schemas.microsoft.com/office/powerpoint/2010/main" val="41520051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529</TotalTime>
  <Words>822</Words>
  <Application>Microsoft Office PowerPoint</Application>
  <PresentationFormat>Widescreen</PresentationFormat>
  <Paragraphs>30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Rishi Ahuja</cp:lastModifiedBy>
  <cp:revision>54</cp:revision>
  <dcterms:created xsi:type="dcterms:W3CDTF">2021-08-22T09:44:59Z</dcterms:created>
  <dcterms:modified xsi:type="dcterms:W3CDTF">2021-08-25T17:05:48Z</dcterms:modified>
</cp:coreProperties>
</file>